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안내 대상자</c:v>
                </c:pt>
              </c:strCache>
            </c:strRef>
          </c:tx>
          <c:spPr>
            <a:solidFill>
              <a:srgbClr val="00C8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1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</c:v>
                </c:pt>
                <c:pt idx="1">
                  <c:v>18</c:v>
                </c:pt>
                <c:pt idx="2">
                  <c:v>5</c:v>
                </c:pt>
                <c:pt idx="3">
                  <c:v>15</c:v>
                </c:pt>
                <c:pt idx="4">
                  <c:v>7</c:v>
                </c:pt>
                <c:pt idx="5">
                  <c:v>13</c:v>
                </c:pt>
                <c:pt idx="6">
                  <c:v>11</c:v>
                </c:pt>
                <c:pt idx="7">
                  <c:v>15</c:v>
                </c:pt>
                <c:pt idx="8">
                  <c:v>16</c:v>
                </c:pt>
                <c:pt idx="9">
                  <c:v>22</c:v>
                </c:pt>
                <c:pt idx="10">
                  <c:v>14</c:v>
                </c:pt>
                <c:pt idx="1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21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0"/>
        <c:axPos val="l"/>
        <c:majorGridlines>
          <c:spPr>
            <a:ln w="12700" cap="flat">
              <a:solidFill>
                <a:srgbClr val="E4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0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생일휴가 안내는 매월 반복되는 정형 업무입니다. 이번 발표는 이 업무를 자동화한 과정과, 담당자가 바뀌어도 계속 쓸 수 있게 만든 구조를 공유하는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목적은 세 가지입니다. 시간을 줄이고, 실수를 없애고, 사람이 바뀌어도 굴러가게 하는 것. 특히 세 번째가 이번 작업의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병목은 이메일 주소였습니다. 사원명부에서 이메일 열이 숨겨져 있어서, 한 명씩 사원등록 페이지에 들어가 확인해야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중요한 점은 도입 비용이 0원이라는 것입니다. 구글 스프레드시트에 내장된 기능만 사용했고, IT 부서의 서버 구축이나 외부 서비스 계약이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자동화했지만 발송 버튼은 사람이 누릅니다. 자동 분류 결과를 체크박스로 확인한 뒤 발송하는 구조라, 예외 상황도 담당자가 조정할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월별 편차가 큽니다. 3월은 5명, 10월은 22명입니다. 사람이 매번 세는 것보다 자동 집계가 안정적인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슬라이드입니다. 아이디어 단계가 아니라 8월 안내를 실제로 이 도구로 발송했고, 대상자 15명 전원에게 누락 없이 나갔습니다. 휴직자 한 분은 규칙에 따라 자동으로 제외됐습니다.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부분이 이번 작업에서 가장 신경 쓴 지점입니다. 인턴이 만든 도구는 인턴이 떠나면 멈추기 쉬운데, 그렇게 되지 않도록 설정과 문서를 도구 안에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절감도 크지만, 더 중요한 것은 담당자가 바뀌어도 같은 품질이 유지된다는 점입니다. 정확도는 8월 운영에서 이미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206240" cy="4206240"/>
          </a:xfrm>
          <a:prstGeom prst="ellipse">
            <a:avLst/>
          </a:prstGeom>
          <a:solidFill>
            <a:srgbClr val="173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173A2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OPS AUTOMATION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생일휴가 안내 업무 자동화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스프레드시트 + Apps Script 기반 · 별도 비용 없음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00C87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운영 완료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피플실  |  2026. 08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 목적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업무를 줄이고, 사람이 바뀌어도 유지되는 구조를 만든다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078992"/>
          </a:xfrm>
          <a:prstGeom prst="roundRect">
            <a:avLst>
              <a:gd name="adj" fmla="val 67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93976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자동화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6336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동일하게 반복되는 명단 확인 · 대상자 선별 · 개별 메일 발송을 자동화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10817352" cy="1078992"/>
          </a:xfrm>
          <a:prstGeom prst="roundRect">
            <a:avLst>
              <a:gd name="adj" fmla="val 67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392424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누락과 실수 제거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46320" y="3264408"/>
            <a:ext cx="6336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기반으로 대상자를 선별하고 중복 발송을 시스템이 차단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17352" cy="1078992"/>
          </a:xfrm>
          <a:prstGeom prst="roundRect">
            <a:avLst>
              <a:gd name="adj" fmla="val 67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690872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5628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속인화 해소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46320" y="4562856"/>
            <a:ext cx="6336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 바뀌어도 같은 품질로 수행되도록 문서와 설정을 도구 안에 내장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규모: 전 직원 180명 · 연간 안내 대상 161명 · 월평균 13.4명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방식의 문제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같은 작업을 손으로 반복해야 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명단 확인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78380" y="178308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4412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7564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생일자 추출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26992" y="178308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3024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6176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대상 판별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75604" y="178308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4788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개별 조회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4216" y="178308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0248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3400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1건씩 작성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72828" y="178308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28860" y="1783080"/>
            <a:ext cx="1574292" cy="658368"/>
          </a:xfrm>
          <a:prstGeom prst="roundRect">
            <a:avLst>
              <a:gd name="adj" fmla="val 11111"/>
            </a:avLst>
          </a:prstGeom>
          <a:solidFill>
            <a:srgbClr val="E9EFEB"/>
          </a:solidFill>
          <a:ln w="12700">
            <a:solidFill>
              <a:srgbClr val="E9E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02012" y="1783080"/>
            <a:ext cx="1427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· 기록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25420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단계가 수작업 — 매월 반복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063240"/>
            <a:ext cx="3361944" cy="2240280"/>
          </a:xfrm>
          <a:prstGeom prst="roundRect">
            <a:avLst>
              <a:gd name="adj" fmla="val 32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" y="3337560"/>
            <a:ext cx="384048" cy="384048"/>
          </a:xfrm>
          <a:prstGeom prst="ellipse">
            <a:avLst/>
          </a:prstGeom>
          <a:solidFill>
            <a:srgbClr val="C7502F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8408" y="3840480"/>
            <a:ext cx="277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4133088"/>
            <a:ext cx="277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1.5~2시간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8408" y="4590288"/>
            <a:ext cx="2776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13~22명에게 이메일 주소를 하나씩 확인하고 메일을 개별 작성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13504" y="3063240"/>
            <a:ext cx="3361944" cy="2240280"/>
          </a:xfrm>
          <a:prstGeom prst="roundRect">
            <a:avLst>
              <a:gd name="adj" fmla="val 32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6112" y="3337560"/>
            <a:ext cx="384048" cy="384048"/>
          </a:xfrm>
          <a:prstGeom prst="ellipse">
            <a:avLst/>
          </a:prstGeom>
          <a:solidFill>
            <a:srgbClr val="C7502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611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06112" y="3840480"/>
            <a:ext cx="277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6112" y="4133088"/>
            <a:ext cx="277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 · 오발송 위험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06112" y="4590288"/>
            <a:ext cx="2776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휴직 · 퇴직 · 임원 제외를 매번 눈으로 대조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41208" y="3063240"/>
            <a:ext cx="3361944" cy="2240280"/>
          </a:xfrm>
          <a:prstGeom prst="roundRect">
            <a:avLst>
              <a:gd name="adj" fmla="val 32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3816" y="3337560"/>
            <a:ext cx="384048" cy="384048"/>
          </a:xfrm>
          <a:prstGeom prst="ellipse">
            <a:avLst/>
          </a:prstGeom>
          <a:solidFill>
            <a:srgbClr val="C7502F"/>
          </a:solidFill>
          <a:ln/>
        </p:spPr>
      </p:sp>
      <p:sp>
        <p:nvSpPr>
          <p:cNvPr id="36" name="Text 34"/>
          <p:cNvSpPr/>
          <p:nvPr/>
        </p:nvSpPr>
        <p:spPr>
          <a:xfrm>
            <a:off x="843381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33816" y="3840480"/>
            <a:ext cx="277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속인화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33816" y="4133088"/>
            <a:ext cx="277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의존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433816" y="4590288"/>
            <a:ext cx="2776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절차가 문서로 남지 않아 인수인계 시 재현이 어려움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이메일 주소가 사원명부에서 숨김 처리되어 사원등록 화면에서 1명씩 확인해야 했음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방식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스프레드시트 메뉴 4단계로 완료됩니다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64308" cy="2514600"/>
          </a:xfrm>
          <a:prstGeom prst="roundRect">
            <a:avLst>
              <a:gd name="adj" fmla="val 296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명단 대조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19156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최신본과 자동 비교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휴직 · 퇴직 반영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입사자 자동 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0148" y="1828800"/>
            <a:ext cx="2464308" cy="2514600"/>
          </a:xfrm>
          <a:prstGeom prst="roundRect">
            <a:avLst>
              <a:gd name="adj" fmla="val 296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4468" y="2103120"/>
            <a:ext cx="548640" cy="54864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374446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4468" y="276148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자동 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4468" y="3200400"/>
            <a:ext cx="19156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생일월 자동 계산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· 휴직 · 제외 부서 자동 판별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464308" cy="2514600"/>
          </a:xfrm>
          <a:prstGeom prst="roundRect">
            <a:avLst>
              <a:gd name="adj" fmla="val 296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2103120"/>
            <a:ext cx="548640" cy="54864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8816" y="276148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발송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3200400"/>
            <a:ext cx="19156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메일로 견본 발송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문구 · 서명 사전 확인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38844" y="1828800"/>
            <a:ext cx="2464308" cy="2514600"/>
          </a:xfrm>
          <a:prstGeom prst="roundRect">
            <a:avLst>
              <a:gd name="adj" fmla="val 296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3164" y="2103120"/>
            <a:ext cx="548640" cy="54864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931316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3164" y="276148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일괄 발송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13164" y="3200400"/>
            <a:ext cx="19156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개인화된 안내 메일 발송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자동 기록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617720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서버 · API 계약 · 관리자 승인 없이, 구글 계정 권한만으로 동작합니다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규칙은 자동으로, 최종 판단은 사람이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02936" cy="13716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103120"/>
            <a:ext cx="420624" cy="420624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대상 선별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450592"/>
            <a:ext cx="4014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생년월일에서 생일월을 계산하고, 재직 상태 · 직급 · 부서 규칙에 따라 대상과 비대상을 자동 분류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0216" y="1828800"/>
            <a:ext cx="5202936" cy="13716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2824" y="2103120"/>
            <a:ext cx="420624" cy="420624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65928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68896" y="2066544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메일 발송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68896" y="2450592"/>
            <a:ext cx="4014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수신자 이름과 사용 기한을 자동으로 채워 발송하며, 발신자의 회사 서명이 그대로 첨부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401568"/>
            <a:ext cx="5202936" cy="13716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675888"/>
            <a:ext cx="420624" cy="420624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639312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발송 차단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4014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사원번호와 연월을 키로 발송 이력을 남겨, 같은 달 재발송을 시스템이 차단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0216" y="3401568"/>
            <a:ext cx="5202936" cy="13716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3675888"/>
            <a:ext cx="420624" cy="420624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68896" y="3639312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최종 확인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68896" y="4023360"/>
            <a:ext cx="4014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 결과를 체크박스로 보여주고, 발송 전 담당자가 직접 확인 · 수정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1206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안전장치  ·  테스트 발송으로 사전 확인   ·   발송 전 인원수 재확인   ·   실패 건은 사유와 함께 기록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규모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 180명 기준 월별 안내 대상자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7772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78308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0" y="18928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96112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301752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3127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961120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안내 대상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32520" y="425196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0" y="4361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961120" y="4910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대상자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18명(임원 · 휴직 · 제외 부서) · 이메일 미등록 1명 — 규칙에 따라 자동 제외됨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운영 결과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발송까지 완료했습니다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31464" cy="1691640"/>
          </a:xfrm>
          <a:prstGeom prst="roundRect">
            <a:avLst>
              <a:gd name="adj" fmla="val 432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2782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2907792"/>
            <a:ext cx="2782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 안내 대상자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28744" y="1783080"/>
            <a:ext cx="3331464" cy="1691640"/>
          </a:xfrm>
          <a:prstGeom prst="roundRect">
            <a:avLst>
              <a:gd name="adj" fmla="val 4324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3064" y="2011680"/>
            <a:ext cx="2782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03064" y="2907792"/>
            <a:ext cx="2782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완료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71688" y="1783080"/>
            <a:ext cx="3331464" cy="1691640"/>
          </a:xfrm>
          <a:prstGeom prst="roundRect">
            <a:avLst>
              <a:gd name="adj" fmla="val 432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6008" y="2011680"/>
            <a:ext cx="2782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446008" y="2907792"/>
            <a:ext cx="2782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 · 오발송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10817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운영에서 확인된 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233672"/>
            <a:ext cx="310896" cy="310896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52728" y="4187952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휴직자 1명이 규칙에 따라 자동으로 비대상 처리되어, 잘못된 발송이 발생하지 않았습니다.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310896" cy="310896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52728" y="4754880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주소를 개별로 조회하지 않고, 명단에 있는 정보만으로 15명 전원에게 발송했습니다.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367528"/>
            <a:ext cx="310896" cy="310896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52728" y="5321808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이력이 자동 기록되어, 같은 달 중복 발송이 시스템 차원에서 차단되는 것을 확인했습니다.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9월 이후 안내도 동일한 절차로 진행 예정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지속가능한 운영 구조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후임자가 코드를 몰라도 계속 쓸 수 있도록 설계했습니다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12264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시트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97680" y="1947672"/>
            <a:ext cx="6885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제목 · 본문 · 제외 규칙 · 발신자명을 스프레드시트에서 직접 수정.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열 필요가 없습니다.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10712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2826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 시트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6885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작업 순서와 문제 해결 방법을 스프레드시트 안에 문서로 내장.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매뉴얼 관리가 불필요합니다.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709160"/>
            <a:ext cx="457200" cy="457200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5811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인수인계 절차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97680" y="4544568"/>
            <a:ext cx="6885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도구는 실행하는 사람의 계정으로 발송됩니다.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변경 시 소유권 이전과 재승인 절차를 문서에 명시했습니다.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5715000"/>
            <a:ext cx="10817352" cy="658368"/>
          </a:xfrm>
          <a:prstGeom prst="roundRect">
            <a:avLst>
              <a:gd name="adj" fmla="val 11111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71500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ERP 최신본만 붙여넣으면, 휴직 · 퇴직 · 신규 입사자가 자동으로 반영됩니다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331464" cy="2377440"/>
          </a:xfrm>
          <a:prstGeom prst="roundRect">
            <a:avLst>
              <a:gd name="adj" fmla="val 307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1965960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8408" y="2359152"/>
            <a:ext cx="274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6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1.5~2시간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2816352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3127248"/>
            <a:ext cx="274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이내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28744" y="1737360"/>
            <a:ext cx="3331464" cy="2377440"/>
          </a:xfrm>
          <a:prstGeom prst="roundRect">
            <a:avLst>
              <a:gd name="adj" fmla="val 307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1352" y="1965960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선별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1352" y="2359152"/>
            <a:ext cx="274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6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대조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1352" y="2816352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1352" y="3127248"/>
            <a:ext cx="274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자동 판별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171688" y="1737360"/>
            <a:ext cx="3331464" cy="2377440"/>
          </a:xfrm>
          <a:prstGeom prst="roundRect">
            <a:avLst>
              <a:gd name="adj" fmla="val 307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4296" y="1965960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인수인계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64296" y="2359152"/>
            <a:ext cx="274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6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기억에 의존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4296" y="2816352"/>
            <a:ext cx="274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64296" y="3127248"/>
            <a:ext cx="274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· 설정 내장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85800" y="4434840"/>
            <a:ext cx="10817352" cy="13716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919472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구조를 경조사 안내, 근속 축하, 교육 이수 리마인드 등 피플실의 다른 정기 안내 업무에 그대로 적용할 수 있습니다.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작업 시간은 대상자 13~22명 기준 추정치 · 대상자 선별과 발송 정확도는 8월 운영 결과(15명 전원 발송, 누락 0)로 확인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474720" cy="3474720"/>
          </a:xfrm>
          <a:prstGeom prst="ellipse">
            <a:avLst/>
          </a:prstGeom>
          <a:solidFill>
            <a:srgbClr val="173A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8580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15352A"/>
          </a:solidFill>
          <a:ln w="12700">
            <a:solidFill>
              <a:srgbClr val="153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84832"/>
            <a:ext cx="438912" cy="438912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956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 서명 적용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0" y="1956816"/>
            <a:ext cx="60624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서명 연동을 완료해 브랜드 서명이 자동 첨부되도록 설정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15352A"/>
          </a:solidFill>
          <a:ln w="12700">
            <a:solidFill>
              <a:srgbClr val="153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227832"/>
            <a:ext cx="438912" cy="438912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099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계정 이관 검토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3099816"/>
            <a:ext cx="60624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계정 종속을 없애기 위해 팀 공용 계정 또는 담당자 계정으로 이전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15352A"/>
          </a:solidFill>
          <a:ln w="12700">
            <a:solidFill>
              <a:srgbClr val="1535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370832"/>
            <a:ext cx="438912" cy="438912"/>
          </a:xfrm>
          <a:prstGeom prst="ellipse">
            <a:avLst/>
          </a:prstGeom>
          <a:solidFill>
            <a:srgbClr val="0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242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업무 확대 적용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20640" y="4242816"/>
            <a:ext cx="60624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경조사 · 근속 축하 등 반복 안내 업무에 동일 구조 적용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생일휴가 안내 업무 자동화</dc:title>
  <dc:subject>PptxGenJS Presentation</dc:subject>
  <dc:creator>피플실</dc:creator>
  <cp:lastModifiedBy>피플실</cp:lastModifiedBy>
  <cp:revision>1</cp:revision>
  <dcterms:created xsi:type="dcterms:W3CDTF">2026-08-06T06:23:26Z</dcterms:created>
  <dcterms:modified xsi:type="dcterms:W3CDTF">2026-08-06T06:23:26Z</dcterms:modified>
</cp:coreProperties>
</file>