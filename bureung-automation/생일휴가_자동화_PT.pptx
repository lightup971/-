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안내 대상자</c:v>
                </c:pt>
              </c:strCache>
            </c:strRef>
          </c:tx>
          <c:spPr>
            <a:solidFill>
              <a:srgbClr val="00C8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21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</c:v>
                </c:pt>
                <c:pt idx="1">
                  <c:v>18</c:v>
                </c:pt>
                <c:pt idx="2">
                  <c:v>5</c:v>
                </c:pt>
                <c:pt idx="3">
                  <c:v>15</c:v>
                </c:pt>
                <c:pt idx="4">
                  <c:v>7</c:v>
                </c:pt>
                <c:pt idx="5">
                  <c:v>13</c:v>
                </c:pt>
                <c:pt idx="6">
                  <c:v>11</c:v>
                </c:pt>
                <c:pt idx="7">
                  <c:v>15</c:v>
                </c:pt>
                <c:pt idx="8">
                  <c:v>16</c:v>
                </c:pt>
                <c:pt idx="9">
                  <c:v>22</c:v>
                </c:pt>
                <c:pt idx="10">
                  <c:v>14</c:v>
                </c:pt>
                <c:pt idx="11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521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F70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"/>
        </c:scaling>
        <c:delete val="0"/>
        <c:axPos val="l"/>
        <c:majorGridlines>
          <c:spPr>
            <a:ln w="12700" cap="flat">
              <a:solidFill>
                <a:srgbClr val="E4EA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0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생일휴가 안내는 매월 반복되는 정형 업무입니다. 이번 발표는 이 업무를 자동화한 과정과, 담당자가 바뀌어도 계속 쓸 수 있게 만든 구조를 공유하는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목적은 세 가지입니다. 시간을 줄이고, 실수를 없애고, 사람이 바뀌어도 굴러가게 하는 것. 특히 세 번째가 이번 작업의 핵심입니다.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연 1회 일괄 부여를 하고 매월 말에 변동분만 조정하는 구조입니다. 문제는 STEP 1의 대조와 STEP 3의 수동 발송이었습니다. 실제로 이름을 바꾸지 않고 보낸 적이 있었고, 다행히 상대가 확인하기 전에 수정했습니다.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슬랙 API 권한이 막힌 것이 오히려 전환점이 됐습니다. 권한을 받아냈더라도 인턴이 바뀔 때마다 다시 받아야 했을 텐데, 그건 지속가능한 구조가 아니라고 판단했습니다.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 비용이 0원입니다. 구글 스프레드시트에 내장된 기능만 사용했고, IT 부서의 서버 구축이나 외부 서비스 계약이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자동화했지만 발송 버튼은 사람이 누릅니다. 자동 분류 결과를 체크박스로 확인한 뒤 발송하는 구조라, 예외 상황도 담당자가 조정할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월별 편차가 큽니다. 3월은 5명, 10월은 22명입니다. 사람이 매번 세는 것보다 자동 집계가 안정적인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가장 중요한 슬라이드입니다. 아이디어 단계가 아니라 8월 안내를 실제로 이 도구로 발송했고, 대상자 15명 전원에게 누락 없이 나갔습니다.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부분이 가장 신경 쓴 지점입니다. 인턴이 만든 도구는 인턴이 떠나면 멈추기 쉬운데, 그렇게 되지 않도록 설정과 문서를 도구 안에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시간 절감도 크지만, 더 중요한 것은 담당자가 바뀌어도 같은 품질이 유지된다는 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0" y="-1371600"/>
            <a:ext cx="4206240" cy="4206240"/>
          </a:xfrm>
          <a:prstGeom prst="ellipse">
            <a:avLst/>
          </a:prstGeom>
          <a:solidFill>
            <a:srgbClr val="173A2E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663440"/>
            <a:ext cx="2377440" cy="2377440"/>
          </a:xfrm>
          <a:prstGeom prst="ellipse">
            <a:avLst/>
          </a:prstGeom>
          <a:solidFill>
            <a:srgbClr val="173A2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874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OPS AUTOMATION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생일휴가 안내 업무 자동화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24612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구글 시트 · Apps Script · 지메일 기반  |  별도 비용 없음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85800" y="3886200"/>
            <a:ext cx="2880360" cy="457200"/>
          </a:xfrm>
          <a:prstGeom prst="roundRect">
            <a:avLst>
              <a:gd name="adj" fmla="val 20000"/>
            </a:avLst>
          </a:prstGeom>
          <a:solidFill>
            <a:srgbClr val="00C878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8862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8월 운영 완료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8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피플실 인턴 김민희  |  2026. 08. 07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추진 목적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업무를 줄이고, 사람이 바뀌어도 유지되는 구조를 만든다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10817352" cy="1097280"/>
          </a:xfrm>
          <a:prstGeom prst="roundRect">
            <a:avLst>
              <a:gd name="adj" fmla="val 666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" y="2066544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0665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18488" y="19202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반복 업무 자동화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5486400" y="1901952"/>
            <a:ext cx="56967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반복되는 명단 확인 · 대상자 선별 · 개별 발송을 자동화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035808"/>
            <a:ext cx="10817352" cy="1097280"/>
          </a:xfrm>
          <a:prstGeom prst="roundRect">
            <a:avLst>
              <a:gd name="adj" fmla="val 666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" y="3364992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996696" y="33649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18488" y="321868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누락과 실수 제거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486400" y="3200400"/>
            <a:ext cx="56967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기반 대상자 선별, 오류 · 실수 제거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334256"/>
            <a:ext cx="10817352" cy="1097280"/>
          </a:xfrm>
          <a:prstGeom prst="roundRect">
            <a:avLst>
              <a:gd name="adj" fmla="val 666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6696" y="4663440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4663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8488" y="451713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인수인계 및 지속가능성 확보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486400" y="4498848"/>
            <a:ext cx="5696712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 변경 시에도 동일 품질이 유지되도록 기본설정을 도구에 내장 (GAS 코드 수정 불필요)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437376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규모: 전 직원 182명 · 연간 안내 대상 162명 · 월평균 13.5명 (2026-08-06 기준)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프로세스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8월 안내 기준 — 7월 말에 대상자를 확정하고 발송하는 4단계 수작업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664208"/>
            <a:ext cx="10817352" cy="804672"/>
          </a:xfrm>
          <a:prstGeom prst="roundRect">
            <a:avLst>
              <a:gd name="adj" fmla="val 9091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847088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8470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27048" y="17373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27048" y="20116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 1회 · 26년 4월 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429000" y="1719072"/>
            <a:ext cx="7754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이관 완료 후 26-04-30 기준 재직자 생일 확인 → 옴니이솔 &gt; 근태일수등록 &gt; 사원별일수등록에서 생일휴가 1일 일괄 부여 (시작일 = 생일월 1일 / 종료일 = 생일월 말일)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2560320"/>
            <a:ext cx="10817352" cy="804672"/>
          </a:xfrm>
          <a:prstGeom prst="roundRect">
            <a:avLst>
              <a:gd name="adj" fmla="val 9091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2743200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" y="27432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27048" y="26334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27048" y="290779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말 · 대상자 재확인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429000" y="2615184"/>
            <a:ext cx="7754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사원명부 등 인사기록 재조회 → 신규 입사자 중 익월 생일자 추가 부여, 중도퇴사 · 휴직자 부여 내역 삭제 후 대상 제외 / 임원 부여 내역 삭제 후 대상 제외 (26-04-30 당시 제외 누락)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3456432"/>
            <a:ext cx="10817352" cy="804672"/>
          </a:xfrm>
          <a:prstGeom prst="roundRect">
            <a:avLst>
              <a:gd name="adj" fmla="val 9091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639312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639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27048" y="352958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527048" y="380390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검토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429000" y="3511296"/>
            <a:ext cx="7754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추려진 대상자 목록을 사수님께 전달해 컨펌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85800" y="4352544"/>
            <a:ext cx="10817352" cy="804672"/>
          </a:xfrm>
          <a:prstGeom prst="roundRect">
            <a:avLst>
              <a:gd name="adj" fmla="val 9091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535424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4" name="Text 22"/>
          <p:cNvSpPr/>
          <p:nvPr/>
        </p:nvSpPr>
        <p:spPr>
          <a:xfrm>
            <a:off x="96012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27048" y="47000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429000" y="4407408"/>
            <a:ext cx="7754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슬랙에서 대상자 조회 (동명이인 주의 필요) → 템플릿의 "월"과 "이름"을 직접 수정해 1명씩 수동 발송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85800" y="5321808"/>
            <a:ext cx="10817352" cy="1170432"/>
          </a:xfrm>
          <a:prstGeom prst="roundRect">
            <a:avLst>
              <a:gd name="adj" fmla="val 6250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5504688"/>
            <a:ext cx="329184" cy="329184"/>
          </a:xfrm>
          <a:prstGeom prst="ellipse">
            <a:avLst/>
          </a:prstGeom>
          <a:solidFill>
            <a:srgbClr val="C7502F"/>
          </a:solidFill>
          <a:ln/>
        </p:spPr>
      </p:sp>
      <p:sp>
        <p:nvSpPr>
          <p:cNvPr id="30" name="Text 28"/>
          <p:cNvSpPr/>
          <p:nvPr/>
        </p:nvSpPr>
        <p:spPr>
          <a:xfrm>
            <a:off x="960120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72184" y="5486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문제점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472184" y="5815584"/>
            <a:ext cx="4768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단순 반복 누적 → 템플릿 이름 미수정 발송 사례 발생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332220" y="5815584"/>
            <a:ext cx="4768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매월 동일 작업 반복에 따른 시간 소요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472184" y="6126480"/>
            <a:ext cx="4768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절차 미문서화로 인수인계 시 비효율 발생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332220" y="6126480"/>
            <a:ext cx="47685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슬랙 발송 시 감사 인사 등 회신 누적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방식의 전환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 시도한 방식이 막히면서, 판단 기준을 바꿨습니다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5202936" cy="2926080"/>
          </a:xfrm>
          <a:prstGeom prst="roundRect">
            <a:avLst>
              <a:gd name="adj" fmla="val 2500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011680"/>
            <a:ext cx="420624" cy="420624"/>
          </a:xfrm>
          <a:prstGeom prst="ellipse">
            <a:avLst/>
          </a:prstGeom>
          <a:solidFill>
            <a:srgbClr val="C7502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05840" y="2560320"/>
            <a:ext cx="4562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시도 — 슬랙 자동화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2999232"/>
            <a:ext cx="4562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ERP 사원명부만 넣으면 대상자 선별 후 슬랙 DM 발송하는 도구 구상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529584"/>
            <a:ext cx="4562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인턴에게 슬랙 API 권한 미부여로 무산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4059936"/>
            <a:ext cx="4562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권한 확보하더라도 인턴 교체 시마다 재부여 필요 → 지속가능성 부족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0216" y="1737360"/>
            <a:ext cx="5202936" cy="2926080"/>
          </a:xfrm>
          <a:prstGeom prst="roundRect">
            <a:avLst>
              <a:gd name="adj" fmla="val 250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20256" y="2011680"/>
            <a:ext cx="420624" cy="420624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3" name="Text 11"/>
          <p:cNvSpPr/>
          <p:nvPr/>
        </p:nvSpPr>
        <p:spPr>
          <a:xfrm>
            <a:off x="6620256" y="2011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20256" y="2560320"/>
            <a:ext cx="4562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전환 — 구글 시트 + Gmail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620256" y="2999232"/>
            <a:ext cx="4562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관리자 승인 없이 본인 구글 계정 권한만으로 동작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620256" y="3529584"/>
            <a:ext cx="4562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담당자 변경 시 동일 절차로 인수 가능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20256" y="4059936"/>
            <a:ext cx="4562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추가 비용 · 외부 서비스 계약 없음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85800" y="4956048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0E2A22"/>
          </a:solidFill>
          <a:ln w="12700">
            <a:solidFill>
              <a:srgbClr val="0E2A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956048"/>
            <a:ext cx="99943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 기준:  "권한 없이 동작하는가"  +  "다음 담당자가 이어받을 수 있는가"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개선 방식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스프레드시트 메뉴 4단계로 완료됩니다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2464308" cy="324612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93392"/>
            <a:ext cx="530352" cy="53035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93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615184"/>
            <a:ext cx="191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명단 대조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19156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최신본과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발송명단 자동 비교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 · 직급 변동 반영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입사자 자동 추가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계정 자동 판별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0148" y="1737360"/>
            <a:ext cx="2464308" cy="324612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44468" y="1993392"/>
            <a:ext cx="530352" cy="53035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3744468" y="1993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44468" y="2615184"/>
            <a:ext cx="191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 분류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44468" y="3017520"/>
            <a:ext cx="19156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생일월 자동 계산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· 휴직 · 제외 부서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(장애인고용) 판별 후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대상자에서 제외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54496" y="1737360"/>
            <a:ext cx="2464308" cy="324612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28816" y="1993392"/>
            <a:ext cx="530352" cy="53035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6528816" y="1993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28816" y="2615184"/>
            <a:ext cx="191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발송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3017520"/>
            <a:ext cx="19156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 본인 메일로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견본 발송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메일 제목 · 안내 문구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서명 적용 여부 사전 확인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38844" y="1737360"/>
            <a:ext cx="2464308" cy="3246120"/>
          </a:xfrm>
          <a:prstGeom prst="roundRect">
            <a:avLst>
              <a:gd name="adj" fmla="val 2968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13164" y="1993392"/>
            <a:ext cx="530352" cy="53035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1" name="Text 19"/>
          <p:cNvSpPr/>
          <p:nvPr/>
        </p:nvSpPr>
        <p:spPr>
          <a:xfrm>
            <a:off x="9313164" y="19933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13164" y="2615184"/>
            <a:ext cx="19156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발송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313164" y="3017520"/>
            <a:ext cx="191566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개인화된 안내 메일 발송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 자동 기록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5230368"/>
            <a:ext cx="10817352" cy="868680"/>
          </a:xfrm>
          <a:prstGeom prst="roundRect">
            <a:avLst>
              <a:gd name="adj" fmla="val 8421"/>
            </a:avLst>
          </a:prstGeom>
          <a:solidFill>
            <a:srgbClr val="0E2A22"/>
          </a:solidFill>
          <a:ln w="12700">
            <a:solidFill>
              <a:srgbClr val="0E2A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5230368"/>
            <a:ext cx="99943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서버 · API · 관리자 승인 없이 구글 계정 권한만으로 동작합니다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기능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규칙은 자동으로, 최종 판단은 사람이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19072"/>
            <a:ext cx="5202936" cy="1188720"/>
          </a:xfrm>
          <a:prstGeom prst="roundRect">
            <a:avLst>
              <a:gd name="adj" fmla="val 6154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1956816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90472" y="1901952"/>
            <a:ext cx="4105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발송명단 자동 최신화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90472" y="2249424"/>
            <a:ext cx="4105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재직여부 · 직급 · 직책 · 비용센터 · 이메일 5개 항목 변경 감지. 변경 내역은 [대조결과] 시트에 기록되고, ERP 양식의 열 순서가 달라도 항목명으로 자동 인식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0216" y="1719072"/>
            <a:ext cx="5202936" cy="1188720"/>
          </a:xfrm>
          <a:prstGeom prst="roundRect">
            <a:avLst>
              <a:gd name="adj" fmla="val 6154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4536" y="1956816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6574536" y="19568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104888" y="1901952"/>
            <a:ext cx="4105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대상 선별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04888" y="2249424"/>
            <a:ext cx="4105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생년월일에서 생일월을 계산하고, 재직 상태 · 직급 · 부서 규칙에 따라 대상 / 비대상으로 분류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72384"/>
            <a:ext cx="5202936" cy="1188720"/>
          </a:xfrm>
          <a:prstGeom prst="roundRect">
            <a:avLst>
              <a:gd name="adj" fmla="val 6154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3310128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90472" y="3255264"/>
            <a:ext cx="4105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개인화된 메일 발송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90472" y="3602736"/>
            <a:ext cx="4105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수신자 이름과 사용 기한을 자동 치환해 발송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0216" y="3072384"/>
            <a:ext cx="5202936" cy="1188720"/>
          </a:xfrm>
          <a:prstGeom prst="roundRect">
            <a:avLst>
              <a:gd name="adj" fmla="val 6154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4536" y="3310128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1" name="Text 19"/>
          <p:cNvSpPr/>
          <p:nvPr/>
        </p:nvSpPr>
        <p:spPr>
          <a:xfrm>
            <a:off x="6574536" y="3310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104888" y="3255264"/>
            <a:ext cx="4105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중복 발송 차단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04888" y="3602736"/>
            <a:ext cx="4105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[발송기록] 시트에서 사원번호 + 연월 기준으로 이력을 관리하고, 중복 발송 시 안내창 표시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5800" y="4425696"/>
            <a:ext cx="5202936" cy="1188720"/>
          </a:xfrm>
          <a:prstGeom prst="roundRect">
            <a:avLst>
              <a:gd name="adj" fmla="val 6154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0120" y="4663440"/>
            <a:ext cx="402336" cy="402336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6" name="Text 24"/>
          <p:cNvSpPr/>
          <p:nvPr/>
        </p:nvSpPr>
        <p:spPr>
          <a:xfrm>
            <a:off x="960120" y="46634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90472" y="4608576"/>
            <a:ext cx="41056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담당자의 최종 확인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90472" y="4956048"/>
            <a:ext cx="41056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분류 결과를 체크박스로 제시하고, 발송 전 담당자가 최종 확인 · 수정해 대상자 확정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85800" y="5870448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안전장치   ·  테스트 발송(사전 확인)    ·  발송 전 대상자 인원수 재확인    ·  실패 건 사유 기록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 규모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직원 182명 기준 월별 안내 대상자 (2026-08-06 기준)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737360"/>
          <a:ext cx="77724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732520" y="1737360"/>
            <a:ext cx="2770632" cy="1078992"/>
          </a:xfrm>
          <a:prstGeom prst="roundRect">
            <a:avLst>
              <a:gd name="adj" fmla="val 678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961120" y="1847088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961120" y="24140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직원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8732520" y="2999232"/>
            <a:ext cx="2770632" cy="1078992"/>
          </a:xfrm>
          <a:prstGeom prst="roundRect">
            <a:avLst>
              <a:gd name="adj" fmla="val 678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61120" y="3108960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8961120" y="36758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안내 대상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732520" y="4261104"/>
            <a:ext cx="2770632" cy="1078992"/>
          </a:xfrm>
          <a:prstGeom prst="roundRect">
            <a:avLst>
              <a:gd name="adj" fmla="val 6780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61120" y="4370832"/>
            <a:ext cx="2194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8961120" y="4937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월평균 대상자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85800" y="6437376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제외 18명(임원 · 휴직 · 제외 부서) · 이메일 미등록 1명 — 규칙에 따라 자동 제외    |    3월 5명 ~ 10월 22명, 월별 편차 큼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8월 운영 결과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발송까지 완료 — 제안이 아닌 실증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19072"/>
            <a:ext cx="3331464" cy="1554480"/>
          </a:xfrm>
          <a:prstGeom prst="roundRect">
            <a:avLst>
              <a:gd name="adj" fmla="val 4706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01952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960120" y="2743200"/>
            <a:ext cx="2782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8월 안내 대상자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28744" y="1719072"/>
            <a:ext cx="3331464" cy="1554480"/>
          </a:xfrm>
          <a:prstGeom prst="roundRect">
            <a:avLst>
              <a:gd name="adj" fmla="val 4706"/>
            </a:avLst>
          </a:prstGeom>
          <a:solidFill>
            <a:srgbClr val="0E2A22"/>
          </a:solidFill>
          <a:ln w="12700">
            <a:solidFill>
              <a:srgbClr val="0E2A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3064" y="1901952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703064" y="2743200"/>
            <a:ext cx="2782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F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발송 완료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71688" y="1719072"/>
            <a:ext cx="3331464" cy="1554480"/>
          </a:xfrm>
          <a:prstGeom prst="roundRect">
            <a:avLst>
              <a:gd name="adj" fmla="val 4706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46008" y="1901952"/>
            <a:ext cx="2782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8446008" y="2743200"/>
            <a:ext cx="27828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누락 · 오발송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429000"/>
            <a:ext cx="10817352" cy="914400"/>
          </a:xfrm>
          <a:prstGeom prst="roundRect">
            <a:avLst>
              <a:gd name="adj" fmla="val 8000"/>
            </a:avLst>
          </a:prstGeom>
          <a:solidFill>
            <a:srgbClr val="FBEDE9"/>
          </a:solidFill>
          <a:ln w="12700">
            <a:solidFill>
              <a:srgbClr val="FBED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5478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750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방식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286000" y="3429000"/>
            <a:ext cx="8897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A3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사원명부 등 인사정보 단순 조회 시 퇴직자(김대현님) · 휴직자(소유빈님) 각 1명을 거르지 못하는 실수 발생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85800" y="4526280"/>
            <a:ext cx="10817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 운영에서 확인된 것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31520" y="4956048"/>
            <a:ext cx="292608" cy="29260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956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16152" y="4919472"/>
            <a:ext cx="10222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퇴직자 · 휴직자 2명이 규칙에 따라 자동 비대상 처리되어, 잘못된 발송이 발생하지 않았습니다.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458968"/>
            <a:ext cx="292608" cy="29260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5458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16152" y="5422392"/>
            <a:ext cx="10222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사원명부 기반으로 정리한 발송명단 정보만으로 15명 전원에게 발송했습니다.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5961888"/>
            <a:ext cx="292608" cy="29260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5961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16152" y="5925312"/>
            <a:ext cx="10222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발송 이력이 자동 기록되어, 같은 달 중복 발송이 차단되는 것을 확인했습니다.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5800" y="6437376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9월 이후 안내도 동일 절차로 진행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지속가능한 운영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후임자가 GAS 코드를 직접 수정하지 않더라도 계속 쓸 수 있도록 설계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1097280"/>
          </a:xfrm>
          <a:prstGeom prst="roundRect">
            <a:avLst>
              <a:gd name="adj" fmla="val 666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6696" y="2112264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6" name="Text 4"/>
          <p:cNvSpPr/>
          <p:nvPr/>
        </p:nvSpPr>
        <p:spPr>
          <a:xfrm>
            <a:off x="996696" y="211226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18488" y="1965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[기본설정] 시트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26280" y="1929384"/>
            <a:ext cx="66568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메일 제목 · 본문 · 제외 규칙 · 발신자명을 시트에서 직접 수정.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코드(Apps Script)를 열 필요가 없습니다.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063240"/>
            <a:ext cx="10817352" cy="1097280"/>
          </a:xfrm>
          <a:prstGeom prst="roundRect">
            <a:avLst>
              <a:gd name="adj" fmla="val 666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96696" y="3392424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1" name="Text 9"/>
          <p:cNvSpPr/>
          <p:nvPr/>
        </p:nvSpPr>
        <p:spPr>
          <a:xfrm>
            <a:off x="996696" y="33924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18488" y="3246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[사용법] 시트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26280" y="3209544"/>
            <a:ext cx="66568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연간 흐름 · 매월 작업 순서 · 문제 해결 방법을 스프레드시트에 수록.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매뉴얼 관리가 불필요합니다.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800" y="4343400"/>
            <a:ext cx="10817352" cy="1097280"/>
          </a:xfrm>
          <a:prstGeom prst="roundRect">
            <a:avLst>
              <a:gd name="adj" fmla="val 666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6696" y="4672584"/>
            <a:ext cx="438912" cy="438912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6" name="Text 14"/>
          <p:cNvSpPr/>
          <p:nvPr/>
        </p:nvSpPr>
        <p:spPr>
          <a:xfrm>
            <a:off x="996696" y="4672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18488" y="45262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인수인계 절차 명문화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26280" y="4489704"/>
            <a:ext cx="665683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실행자 계정으로 발송되는 구조를 명시하고,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소유권 이전 및 권한 재승인 절차를 문서화했습니다.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5669280"/>
            <a:ext cx="10817352" cy="658368"/>
          </a:xfrm>
          <a:prstGeom prst="roundRect">
            <a:avLst>
              <a:gd name="adj" fmla="val 11111"/>
            </a:avLst>
          </a:prstGeom>
          <a:solidFill>
            <a:srgbClr val="0E2A22"/>
          </a:solidFill>
          <a:ln w="12700">
            <a:solidFill>
              <a:srgbClr val="0E2A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66928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매월 ERP 최신본만 붙여넣고 [명단 대조]를 실행하면, 직급 · 재직상태 변동과 신규 입사자가 자동 반영됩니다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기대 효과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060704"/>
            <a:ext cx="10817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 절감보다 중요한 것은 품질의 일관성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719072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385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 시간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60120" y="2322576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96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2779776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3090672"/>
            <a:ext cx="2782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5분 이내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428744" y="1719072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3064" y="19385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대상자 선별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03064" y="2322576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96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수작업 대조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03064" y="2779776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3064" y="3090672"/>
            <a:ext cx="2782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기반 자동 판별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171688" y="1719072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6008" y="19385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인수인계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46008" y="2322576"/>
            <a:ext cx="2782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trike="sngStrike" dirty="0">
                <a:solidFill>
                  <a:srgbClr val="96A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담당자 기억 · 개인 기록에 의존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446008" y="2779776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46008" y="3090672"/>
            <a:ext cx="27828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 · 설정에 내장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685800" y="4370832"/>
            <a:ext cx="10817352" cy="1325880"/>
          </a:xfrm>
          <a:prstGeom prst="roundRect">
            <a:avLst>
              <a:gd name="adj" fmla="val 5517"/>
            </a:avLst>
          </a:prstGeom>
          <a:solidFill>
            <a:srgbClr val="F1F6F3"/>
          </a:solidFill>
          <a:ln w="12700">
            <a:solidFill>
              <a:srgbClr val="F1F6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449884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확장 가능성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4828032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521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동일한 구조를 경조사 안내 · 근속 축하 · 교육 이수 리마인드 등 반복 안내 업무에 그대로 적용할 수 있습니다.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6437376"/>
            <a:ext cx="10817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F7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정확도는 8월 운영 결과(15명 전원 발송, 누락 0)로 확인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188720"/>
            <a:ext cx="3291840" cy="3291840"/>
          </a:xfrm>
          <a:prstGeom prst="ellipse">
            <a:avLst/>
          </a:prstGeom>
          <a:solidFill>
            <a:srgbClr val="173A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54864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계획 및 후속 절차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463040"/>
            <a:ext cx="5202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5202936" cy="1060704"/>
          </a:xfrm>
          <a:prstGeom prst="roundRect">
            <a:avLst>
              <a:gd name="adj" fmla="val 6897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2112264"/>
            <a:ext cx="384048" cy="38404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7" name="Text 5"/>
          <p:cNvSpPr/>
          <p:nvPr/>
        </p:nvSpPr>
        <p:spPr>
          <a:xfrm>
            <a:off x="94183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35608" y="2020824"/>
            <a:ext cx="4197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휴가 부여 파일 자동 생성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35608" y="2350008"/>
            <a:ext cx="4197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STEP 0 · 1의 ERP 부여 · 삭제는 수동.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업로드 양식이 정형화되어 있어 동일 시트에서 생성 가능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85800" y="3081528"/>
            <a:ext cx="5202936" cy="1060704"/>
          </a:xfrm>
          <a:prstGeom prst="roundRect">
            <a:avLst>
              <a:gd name="adj" fmla="val 6897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41832" y="3319272"/>
            <a:ext cx="384048" cy="38404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2" name="Text 10"/>
          <p:cNvSpPr/>
          <p:nvPr/>
        </p:nvSpPr>
        <p:spPr>
          <a:xfrm>
            <a:off x="941832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35608" y="3227832"/>
            <a:ext cx="4197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 업무 확대 적용 가능성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35608" y="3557016"/>
            <a:ext cx="4197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근속 축하 등 반복 안내 업무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00216" y="1463040"/>
            <a:ext cx="5202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후속 절차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300216" y="1874520"/>
            <a:ext cx="5202936" cy="1060704"/>
          </a:xfrm>
          <a:prstGeom prst="roundRect">
            <a:avLst>
              <a:gd name="adj" fmla="val 6897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56248" y="2112264"/>
            <a:ext cx="384048" cy="38404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18" name="Text 16"/>
          <p:cNvSpPr/>
          <p:nvPr/>
        </p:nvSpPr>
        <p:spPr>
          <a:xfrm>
            <a:off x="655624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50024" y="2020824"/>
            <a:ext cx="4197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소유권 이관 결정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050024" y="2350008"/>
            <a:ext cx="4197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계정 발송 구조 → 인턴 종료 시 중단.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공용 계정 또는 사수님 · 후임자 계정 이관(권한 공유) 필요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0216" y="3081528"/>
            <a:ext cx="5202936" cy="1060704"/>
          </a:xfrm>
          <a:prstGeom prst="roundRect">
            <a:avLst>
              <a:gd name="adj" fmla="val 6897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56248" y="3319272"/>
            <a:ext cx="384048" cy="38404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3" name="Text 21"/>
          <p:cNvSpPr/>
          <p:nvPr/>
        </p:nvSpPr>
        <p:spPr>
          <a:xfrm>
            <a:off x="6556248" y="3319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050024" y="3227832"/>
            <a:ext cx="4197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이메일 열 노출 검토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050024" y="3557016"/>
            <a:ext cx="4197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(인턴 기준) 신규 입사자 이메일은 [사원등록] 또는 [입퇴사자현황]에서만 조회 가능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300216" y="4288536"/>
            <a:ext cx="5202936" cy="1060704"/>
          </a:xfrm>
          <a:prstGeom prst="roundRect">
            <a:avLst>
              <a:gd name="adj" fmla="val 6897"/>
            </a:avLst>
          </a:prstGeom>
          <a:solidFill>
            <a:srgbClr val="15352A"/>
          </a:solidFill>
          <a:ln w="12700">
            <a:solidFill>
              <a:srgbClr val="15352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56248" y="4526280"/>
            <a:ext cx="384048" cy="384048"/>
          </a:xfrm>
          <a:prstGeom prst="ellipse">
            <a:avLst/>
          </a:prstGeom>
          <a:solidFill>
            <a:srgbClr val="00C878"/>
          </a:solidFill>
          <a:ln/>
        </p:spPr>
      </p:sp>
      <p:sp>
        <p:nvSpPr>
          <p:cNvPr id="28" name="Text 26"/>
          <p:cNvSpPr/>
          <p:nvPr/>
        </p:nvSpPr>
        <p:spPr>
          <a:xfrm>
            <a:off x="6556248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050024" y="4434840"/>
            <a:ext cx="4197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임원 판별 기준 확정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050024" y="4764024"/>
            <a:ext cx="41970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직급 · 직책 목록 기반 판별.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9C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부릉 인사규정상 "임원" 정의와 일치 여부 확인 필요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85800" y="58064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C8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생일휴가 안내 업무 자동화</dc:title>
  <dc:subject>PptxGenJS Presentation</dc:subject>
  <dc:creator>피플실</dc:creator>
  <cp:lastModifiedBy>피플실</cp:lastModifiedBy>
  <cp:revision>1</cp:revision>
  <dcterms:created xsi:type="dcterms:W3CDTF">2026-08-06T15:07:12Z</dcterms:created>
  <dcterms:modified xsi:type="dcterms:W3CDTF">2026-08-06T15:07:12Z</dcterms:modified>
</cp:coreProperties>
</file>