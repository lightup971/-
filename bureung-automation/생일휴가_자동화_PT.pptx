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안내 대상자</c:v>
                </c:pt>
              </c:strCache>
            </c:strRef>
          </c:tx>
          <c:spPr>
            <a:solidFill>
              <a:srgbClr val="00C8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21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</c:v>
                </c:pt>
                <c:pt idx="1">
                  <c:v>18</c:v>
                </c:pt>
                <c:pt idx="2">
                  <c:v>5</c:v>
                </c:pt>
                <c:pt idx="3">
                  <c:v>15</c:v>
                </c:pt>
                <c:pt idx="4">
                  <c:v>7</c:v>
                </c:pt>
                <c:pt idx="5">
                  <c:v>13</c:v>
                </c:pt>
                <c:pt idx="6">
                  <c:v>11</c:v>
                </c:pt>
                <c:pt idx="7">
                  <c:v>15</c:v>
                </c:pt>
                <c:pt idx="8">
                  <c:v>16</c:v>
                </c:pt>
                <c:pt idx="9">
                  <c:v>22</c:v>
                </c:pt>
                <c:pt idx="10">
                  <c:v>14</c:v>
                </c:pt>
                <c:pt idx="11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21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"/>
        </c:scaling>
        <c:delete val="0"/>
        <c:axPos val="l"/>
        <c:majorGridlines>
          <c:spPr>
            <a:ln w="12700" cap="flat">
              <a:solidFill>
                <a:srgbClr val="E4E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70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생일휴가 안내는 매월 반복되는 정형 업무입니다. 이번 발표는 이 업무를 자동화한 과정과, 담당자가 바뀌어도 계속 쓸 수 있게 만든 구조를 공유하는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목적은 세 가지입니다. 시간을 줄이고, 실수를 없애고, 사람이 바뀌어도 굴러가게 하는 것. 특히 세 번째가 이번 작업의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큰 병목은 이메일 주소였습니다. 사원명부에서 이메일 열이 숨겨져 있어서, 한 명씩 사원등록 페이지에 들어가 확인해야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중요한 점은 도입 비용이 0원이라는 것입니다. 구글 스프레드시트에 내장된 기능만 사용했고, IT 부서의 서버 구축이나 외부 서비스 계약이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자동화했지만 발송 버튼은 사람이 누릅니다. 자동 분류 결과를 체크박스로 확인한 뒤 발송하는 구조라, 예외 상황도 담당자가 조정할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월별 편차가 큽니다. 3월은 5명, 10월은 22명입니다. 사람이 매번 세는 것보다 자동 집계가 안정적인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부분이 이번 작업에서 가장 신경 쓴 지점입니다. 인턴이 만든 도구는 인턴이 떠나면 멈추기 쉬운데, 그렇게 되지 않도록 설정과 문서를 도구 안에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 절감도 크지만, 더 중요한 것은 담당자가 바뀌어도 같은 품질이 유지된다는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371600"/>
            <a:ext cx="4206240" cy="4206240"/>
          </a:xfrm>
          <a:prstGeom prst="ellipse">
            <a:avLst/>
          </a:prstGeom>
          <a:solidFill>
            <a:srgbClr val="173A2E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663440"/>
            <a:ext cx="2377440" cy="2377440"/>
          </a:xfrm>
          <a:prstGeom prst="ellipse">
            <a:avLst/>
          </a:prstGeom>
          <a:solidFill>
            <a:srgbClr val="173A2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874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OPS AUTOMATION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생일휴가 안내 업무 자동화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85800" y="324612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구글 스프레드시트 + Apps Script 기반 · 별도 비용 없음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85800" y="3977640"/>
            <a:ext cx="1005840" cy="41148"/>
          </a:xfrm>
          <a:prstGeom prst="rect">
            <a:avLst/>
          </a:prstGeom>
          <a:solidFill>
            <a:srgbClr val="00C87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피플실  |  2026. 08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추진 목적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 업무를 줄이고, 사람이 바뀌어도 유지되는 구조를 만든다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817352" cy="1078992"/>
          </a:xfrm>
          <a:prstGeom prst="roundRect">
            <a:avLst>
              <a:gd name="adj" fmla="val 6780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093976"/>
            <a:ext cx="457200" cy="457200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093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45920" y="19659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 업무 자동화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846320" y="1965960"/>
            <a:ext cx="6336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매월 동일하게 반복되는 명단 확인 · 대상자 선별 · 개별 메일 발송을 자동화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3081528"/>
            <a:ext cx="10817352" cy="1078992"/>
          </a:xfrm>
          <a:prstGeom prst="roundRect">
            <a:avLst>
              <a:gd name="adj" fmla="val 6780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392424"/>
            <a:ext cx="457200" cy="457200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45920" y="32644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누락과 실수 제거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846320" y="3264408"/>
            <a:ext cx="6336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기반으로 대상자를 선별하고 중복 발송을 시스템이 차단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379976"/>
            <a:ext cx="10817352" cy="1078992"/>
          </a:xfrm>
          <a:prstGeom prst="roundRect">
            <a:avLst>
              <a:gd name="adj" fmla="val 6780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4690872"/>
            <a:ext cx="457200" cy="457200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45920" y="456285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속인화 해소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846320" y="4562856"/>
            <a:ext cx="6336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담당자가 바뀌어도 같은 품질로 수행되도록 문서와 설정을 도구 안에 내장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규모: 전 직원 180명 · 연간 안내 대상 161명 · 월평균 13.4명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방식의 문제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매월 같은 작업을 손으로 반복해야 했습니다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574292" cy="658368"/>
          </a:xfrm>
          <a:prstGeom prst="roundRect">
            <a:avLst>
              <a:gd name="adj" fmla="val 11111"/>
            </a:avLst>
          </a:prstGeom>
          <a:solidFill>
            <a:srgbClr val="E9EFEB"/>
          </a:solidFill>
          <a:ln w="12700">
            <a:solidFill>
              <a:srgbClr val="E9EF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8952" y="1783080"/>
            <a:ext cx="14279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명단 확인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278380" y="1783080"/>
            <a:ext cx="237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34412" y="1783080"/>
            <a:ext cx="1574292" cy="658368"/>
          </a:xfrm>
          <a:prstGeom prst="roundRect">
            <a:avLst>
              <a:gd name="adj" fmla="val 11111"/>
            </a:avLst>
          </a:prstGeom>
          <a:solidFill>
            <a:srgbClr val="E9EFEB"/>
          </a:solidFill>
          <a:ln w="12700">
            <a:solidFill>
              <a:srgbClr val="E9EF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7564" y="1783080"/>
            <a:ext cx="14279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생일자 추출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26992" y="1783080"/>
            <a:ext cx="237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3024" y="1783080"/>
            <a:ext cx="1574292" cy="658368"/>
          </a:xfrm>
          <a:prstGeom prst="roundRect">
            <a:avLst>
              <a:gd name="adj" fmla="val 11111"/>
            </a:avLst>
          </a:prstGeom>
          <a:solidFill>
            <a:srgbClr val="E9EFEB"/>
          </a:solidFill>
          <a:ln w="12700">
            <a:solidFill>
              <a:srgbClr val="E9EF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6176" y="1783080"/>
            <a:ext cx="14279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제외 대상 판별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75604" y="1783080"/>
            <a:ext cx="237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1636" y="1783080"/>
            <a:ext cx="1574292" cy="658368"/>
          </a:xfrm>
          <a:prstGeom prst="roundRect">
            <a:avLst>
              <a:gd name="adj" fmla="val 11111"/>
            </a:avLst>
          </a:prstGeom>
          <a:solidFill>
            <a:srgbClr val="E9EFEB"/>
          </a:solidFill>
          <a:ln w="12700">
            <a:solidFill>
              <a:srgbClr val="E9EF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4788" y="1783080"/>
            <a:ext cx="14279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 개별 조회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824216" y="1783080"/>
            <a:ext cx="237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80248" y="1783080"/>
            <a:ext cx="1574292" cy="658368"/>
          </a:xfrm>
          <a:prstGeom prst="roundRect">
            <a:avLst>
              <a:gd name="adj" fmla="val 11111"/>
            </a:avLst>
          </a:prstGeom>
          <a:solidFill>
            <a:srgbClr val="E9EFEB"/>
          </a:solidFill>
          <a:ln w="12700">
            <a:solidFill>
              <a:srgbClr val="E9EF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53400" y="1783080"/>
            <a:ext cx="14279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메일 1건씩 작성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72828" y="1783080"/>
            <a:ext cx="237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928860" y="1783080"/>
            <a:ext cx="1574292" cy="658368"/>
          </a:xfrm>
          <a:prstGeom prst="roundRect">
            <a:avLst>
              <a:gd name="adj" fmla="val 11111"/>
            </a:avLst>
          </a:prstGeom>
          <a:solidFill>
            <a:srgbClr val="E9EFEB"/>
          </a:solidFill>
          <a:ln w="12700">
            <a:solidFill>
              <a:srgbClr val="E9EF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02012" y="1783080"/>
            <a:ext cx="14279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발송 · 기록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2542032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단계가 수작업 — 매월 반복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3063240"/>
            <a:ext cx="3361944" cy="2240280"/>
          </a:xfrm>
          <a:prstGeom prst="roundRect">
            <a:avLst>
              <a:gd name="adj" fmla="val 3265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78408" y="3337560"/>
            <a:ext cx="384048" cy="384048"/>
          </a:xfrm>
          <a:prstGeom prst="ellipse">
            <a:avLst/>
          </a:prstGeom>
          <a:solidFill>
            <a:srgbClr val="C7502F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78408" y="3840480"/>
            <a:ext cx="277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78408" y="4133088"/>
            <a:ext cx="2776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1.5~2시간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78408" y="4590288"/>
            <a:ext cx="27767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13~22명에게 이메일 주소를 하나씩 확인하고 메일을 개별 작성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413504" y="3063240"/>
            <a:ext cx="3361944" cy="2240280"/>
          </a:xfrm>
          <a:prstGeom prst="roundRect">
            <a:avLst>
              <a:gd name="adj" fmla="val 3265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06112" y="3337560"/>
            <a:ext cx="384048" cy="384048"/>
          </a:xfrm>
          <a:prstGeom prst="ellipse">
            <a:avLst/>
          </a:prstGeom>
          <a:solidFill>
            <a:srgbClr val="C7502F"/>
          </a:solidFill>
          <a:ln/>
        </p:spPr>
      </p:sp>
      <p:sp>
        <p:nvSpPr>
          <p:cNvPr id="30" name="Text 28"/>
          <p:cNvSpPr/>
          <p:nvPr/>
        </p:nvSpPr>
        <p:spPr>
          <a:xfrm>
            <a:off x="4706112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706112" y="3840480"/>
            <a:ext cx="277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정확성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706112" y="4133088"/>
            <a:ext cx="2776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누락 · 오발송 위험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706112" y="4590288"/>
            <a:ext cx="27767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휴직 · 퇴직 · 임원 제외를 매번 눈으로 대조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141208" y="3063240"/>
            <a:ext cx="3361944" cy="2240280"/>
          </a:xfrm>
          <a:prstGeom prst="roundRect">
            <a:avLst>
              <a:gd name="adj" fmla="val 3265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433816" y="3337560"/>
            <a:ext cx="384048" cy="384048"/>
          </a:xfrm>
          <a:prstGeom prst="ellipse">
            <a:avLst/>
          </a:prstGeom>
          <a:solidFill>
            <a:srgbClr val="C7502F"/>
          </a:solidFill>
          <a:ln/>
        </p:spPr>
      </p:sp>
      <p:sp>
        <p:nvSpPr>
          <p:cNvPr id="36" name="Text 34"/>
          <p:cNvSpPr/>
          <p:nvPr/>
        </p:nvSpPr>
        <p:spPr>
          <a:xfrm>
            <a:off x="8433816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433816" y="3840480"/>
            <a:ext cx="277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속인화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433816" y="4133088"/>
            <a:ext cx="2776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 의존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433816" y="4590288"/>
            <a:ext cx="27767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절차가 문서로 남지 않아 인수인계 시 재현이 어려움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이메일 주소가 사원명부에서 숨김 처리되어 사원등록 화면에서 1명씩 확인해야 했음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개선 방식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스프레드시트 메뉴 4단계로 완료됩니다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2464308" cy="2514600"/>
          </a:xfrm>
          <a:prstGeom prst="roundRect">
            <a:avLst>
              <a:gd name="adj" fmla="val 2968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103120"/>
            <a:ext cx="548640" cy="548640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761488"/>
            <a:ext cx="1915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명단 대조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19156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최신본과 자동 비교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휴직 · 퇴직 반영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입사자 자동 추가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70148" y="1828800"/>
            <a:ext cx="2464308" cy="2514600"/>
          </a:xfrm>
          <a:prstGeom prst="roundRect">
            <a:avLst>
              <a:gd name="adj" fmla="val 2968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44468" y="2103120"/>
            <a:ext cx="548640" cy="548640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1" name="Text 9"/>
          <p:cNvSpPr/>
          <p:nvPr/>
        </p:nvSpPr>
        <p:spPr>
          <a:xfrm>
            <a:off x="3744468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744468" y="2761488"/>
            <a:ext cx="1915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자동 분류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744468" y="3200400"/>
            <a:ext cx="19156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생일월 자동 계산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임원 · 휴직 · 제외 부서 자동 판별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54496" y="1828800"/>
            <a:ext cx="2464308" cy="2514600"/>
          </a:xfrm>
          <a:prstGeom prst="roundRect">
            <a:avLst>
              <a:gd name="adj" fmla="val 2968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28816" y="2103120"/>
            <a:ext cx="548640" cy="548640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6" name="Text 14"/>
          <p:cNvSpPr/>
          <p:nvPr/>
        </p:nvSpPr>
        <p:spPr>
          <a:xfrm>
            <a:off x="6528816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28816" y="2761488"/>
            <a:ext cx="1915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발송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8816" y="3200400"/>
            <a:ext cx="19156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본인 메일로 견본 발송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문구 · 서명 사전 확인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38844" y="1828800"/>
            <a:ext cx="2464308" cy="2514600"/>
          </a:xfrm>
          <a:prstGeom prst="roundRect">
            <a:avLst>
              <a:gd name="adj" fmla="val 2968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13164" y="2103120"/>
            <a:ext cx="548640" cy="548640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21" name="Text 19"/>
          <p:cNvSpPr/>
          <p:nvPr/>
        </p:nvSpPr>
        <p:spPr>
          <a:xfrm>
            <a:off x="9313164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313164" y="2761488"/>
            <a:ext cx="1915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일괄 발송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313164" y="3200400"/>
            <a:ext cx="19156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개인화된 안내 메일 발송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자동 기록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85800" y="4617720"/>
            <a:ext cx="10817352" cy="960120"/>
          </a:xfrm>
          <a:prstGeom prst="roundRect">
            <a:avLst>
              <a:gd name="adj" fmla="val 7619"/>
            </a:avLst>
          </a:prstGeom>
          <a:solidFill>
            <a:srgbClr val="0E2A22"/>
          </a:solidFill>
          <a:ln w="12700">
            <a:solidFill>
              <a:srgbClr val="0E2A2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4617720"/>
            <a:ext cx="99943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별도 서버 · API 계약 · 관리자 승인 없이, 구글 계정 권한만으로 동작합니다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기능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규칙은 자동으로, 최종 판단은 사람이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5202936" cy="1371600"/>
          </a:xfrm>
          <a:prstGeom prst="roundRect">
            <a:avLst>
              <a:gd name="adj" fmla="val 5333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" y="2103120"/>
            <a:ext cx="420624" cy="420624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6" name="Text 4"/>
          <p:cNvSpPr/>
          <p:nvPr/>
        </p:nvSpPr>
        <p:spPr>
          <a:xfrm>
            <a:off x="978408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2066544"/>
            <a:ext cx="4014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대상 선별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54480" y="2450592"/>
            <a:ext cx="40142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생년월일에서 생일월을 계산하고, 재직 상태 · 직급 · 부서 규칙에 따라 대상과 비대상을 자동 분류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0216" y="1828800"/>
            <a:ext cx="5202936" cy="1371600"/>
          </a:xfrm>
          <a:prstGeom prst="roundRect">
            <a:avLst>
              <a:gd name="adj" fmla="val 5333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92824" y="2103120"/>
            <a:ext cx="420624" cy="420624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1" name="Text 9"/>
          <p:cNvSpPr/>
          <p:nvPr/>
        </p:nvSpPr>
        <p:spPr>
          <a:xfrm>
            <a:off x="6592824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68896" y="2066544"/>
            <a:ext cx="4014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개인화 메일 발송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68896" y="2450592"/>
            <a:ext cx="40142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수신자 이름과 사용 기한을 자동으로 채워 발송하며, 발신자의 회사 서명이 그대로 첨부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3401568"/>
            <a:ext cx="5202936" cy="1371600"/>
          </a:xfrm>
          <a:prstGeom prst="roundRect">
            <a:avLst>
              <a:gd name="adj" fmla="val 5333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3675888"/>
            <a:ext cx="420624" cy="420624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6" name="Text 14"/>
          <p:cNvSpPr/>
          <p:nvPr/>
        </p:nvSpPr>
        <p:spPr>
          <a:xfrm>
            <a:off x="978408" y="3675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54480" y="3639312"/>
            <a:ext cx="4014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중복 발송 차단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54480" y="4023360"/>
            <a:ext cx="40142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사원번호와 연월을 키로 발송 이력을 남겨, 같은 달 재발송을 시스템이 차단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00216" y="3401568"/>
            <a:ext cx="5202936" cy="1371600"/>
          </a:xfrm>
          <a:prstGeom prst="roundRect">
            <a:avLst>
              <a:gd name="adj" fmla="val 5333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92824" y="3675888"/>
            <a:ext cx="420624" cy="420624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21" name="Text 19"/>
          <p:cNvSpPr/>
          <p:nvPr/>
        </p:nvSpPr>
        <p:spPr>
          <a:xfrm>
            <a:off x="6592824" y="3675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68896" y="3639312"/>
            <a:ext cx="4014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사람의 최종 확인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168896" y="4023360"/>
            <a:ext cx="40142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분류 결과를 체크박스로 보여주고, 발송 전 담당자가 직접 확인 · 수정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" y="512064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안전장치  ·  테스트 발송으로 사전 확인   ·   발송 전 인원수 재확인   ·   실패 건은 사유와 함께 기록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규모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직원 180명 기준 월별 안내 대상자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85800" y="1783080"/>
          <a:ext cx="777240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732520" y="1783080"/>
            <a:ext cx="2770632" cy="1051560"/>
          </a:xfrm>
          <a:prstGeom prst="roundRect">
            <a:avLst>
              <a:gd name="adj" fmla="val 695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961120" y="18928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961120" y="24414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직원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732520" y="3017520"/>
            <a:ext cx="2770632" cy="1051560"/>
          </a:xfrm>
          <a:prstGeom prst="roundRect">
            <a:avLst>
              <a:gd name="adj" fmla="val 695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961120" y="312724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161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961120" y="36758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연간 안내 대상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732520" y="4251960"/>
            <a:ext cx="2770632" cy="1051560"/>
          </a:xfrm>
          <a:prstGeom prst="roundRect">
            <a:avLst>
              <a:gd name="adj" fmla="val 695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61120" y="436168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13.4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961120" y="49103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월평균 대상자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제외 18명(임원 · 휴직 · 제외 부서) · 이메일 미등록 1명 — 규칙에 따라 자동 제외됨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지속가능한 운영 구조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후임자가 코드를 몰라도 계속 쓸 수 있도록 설계했습니다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817352" cy="1115568"/>
          </a:xfrm>
          <a:prstGeom prst="roundRect">
            <a:avLst>
              <a:gd name="adj" fmla="val 655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112264"/>
            <a:ext cx="457200" cy="457200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45920" y="19842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설정 시트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297680" y="1947672"/>
            <a:ext cx="6885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메일 제목 · 본문 · 제외 규칙 · 발신자명을 스프레드시트에서 직접 수정.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코드를 열 필요가 없습니다.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85800" y="3081528"/>
            <a:ext cx="10817352" cy="1115568"/>
          </a:xfrm>
          <a:prstGeom prst="roundRect">
            <a:avLst>
              <a:gd name="adj" fmla="val 655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10712"/>
            <a:ext cx="457200" cy="457200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410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45920" y="32826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사용법 시트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297680" y="3246120"/>
            <a:ext cx="6885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매월 작업 순서와 문제 해결 방법을 스프레드시트 안에 문서로 내장.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별도 매뉴얼 관리가 불필요합니다.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85800" y="4379976"/>
            <a:ext cx="10817352" cy="1115568"/>
          </a:xfrm>
          <a:prstGeom prst="roundRect">
            <a:avLst>
              <a:gd name="adj" fmla="val 655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4709160"/>
            <a:ext cx="457200" cy="457200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45920" y="458114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인수인계 절차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297680" y="4544568"/>
            <a:ext cx="6885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도구는 실행하는 사람의 계정으로 발송됩니다.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 변경 시 소유권 이전과 재승인 절차를 문서에 명시했습니다.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85800" y="5715000"/>
            <a:ext cx="10817352" cy="658368"/>
          </a:xfrm>
          <a:prstGeom prst="roundRect">
            <a:avLst>
              <a:gd name="adj" fmla="val 11111"/>
            </a:avLst>
          </a:prstGeom>
          <a:solidFill>
            <a:srgbClr val="0E2A22"/>
          </a:solidFill>
          <a:ln w="12700">
            <a:solidFill>
              <a:srgbClr val="0E2A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715000"/>
            <a:ext cx="9994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매월 ERP 최신본만 붙여넣으면, 휴직 · 퇴직 · 신규 입사자가 자동으로 반영됩니다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기대 효과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85800" y="1737360"/>
            <a:ext cx="3331464" cy="2377440"/>
          </a:xfrm>
          <a:prstGeom prst="roundRect">
            <a:avLst>
              <a:gd name="adj" fmla="val 307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8408" y="1965960"/>
            <a:ext cx="2746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시간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78408" y="2359152"/>
            <a:ext cx="2746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96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1.5~2시간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78408" y="2816352"/>
            <a:ext cx="2746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78408" y="3127248"/>
            <a:ext cx="2746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5분 이내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428744" y="1737360"/>
            <a:ext cx="3331464" cy="2377440"/>
          </a:xfrm>
          <a:prstGeom prst="roundRect">
            <a:avLst>
              <a:gd name="adj" fmla="val 307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21352" y="1965960"/>
            <a:ext cx="2746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대상자 선별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21352" y="2359152"/>
            <a:ext cx="2746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96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수작업 대조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21352" y="2816352"/>
            <a:ext cx="2746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21352" y="3127248"/>
            <a:ext cx="2746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기반 자동 판별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171688" y="1737360"/>
            <a:ext cx="3331464" cy="2377440"/>
          </a:xfrm>
          <a:prstGeom prst="roundRect">
            <a:avLst>
              <a:gd name="adj" fmla="val 307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64296" y="1965960"/>
            <a:ext cx="2746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인수인계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464296" y="2359152"/>
            <a:ext cx="2746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96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 기억에 의존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64296" y="2816352"/>
            <a:ext cx="2746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64296" y="3127248"/>
            <a:ext cx="2746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· 설정 내장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685800" y="4434840"/>
            <a:ext cx="10817352" cy="1371600"/>
          </a:xfrm>
          <a:prstGeom prst="roundRect">
            <a:avLst>
              <a:gd name="adj" fmla="val 5333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572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 가능성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4919472"/>
            <a:ext cx="9994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동일한 구조를 경조사 안내, 근속 축하, 교육 이수 리마인드 등 피플실의 다른 정기 안내 업무에 그대로 적용할 수 있습니다.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작업 시간은 대상자 13~22명 기준 추정치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3474720" cy="3474720"/>
          </a:xfrm>
          <a:prstGeom prst="ellipse">
            <a:avLst/>
          </a:prstGeom>
          <a:solidFill>
            <a:srgbClr val="173A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685800"/>
            <a:ext cx="1081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향후 계획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10817352" cy="960120"/>
          </a:xfrm>
          <a:prstGeom prst="roundRect">
            <a:avLst>
              <a:gd name="adj" fmla="val 7619"/>
            </a:avLst>
          </a:prstGeom>
          <a:solidFill>
            <a:srgbClr val="15352A"/>
          </a:solidFill>
          <a:ln w="12700">
            <a:solidFill>
              <a:srgbClr val="1535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084832"/>
            <a:ext cx="438912" cy="438912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084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45920" y="19568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회사 로고 서명 적용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20640" y="1956816"/>
            <a:ext cx="606247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C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서명 연동을 완료해 브랜드 서명이 자동 첨부되도록 설정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85800" y="2971800"/>
            <a:ext cx="10817352" cy="960120"/>
          </a:xfrm>
          <a:prstGeom prst="roundRect">
            <a:avLst>
              <a:gd name="adj" fmla="val 7619"/>
            </a:avLst>
          </a:prstGeom>
          <a:solidFill>
            <a:srgbClr val="15352A"/>
          </a:solidFill>
          <a:ln w="12700">
            <a:solidFill>
              <a:srgbClr val="15352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227832"/>
            <a:ext cx="438912" cy="438912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227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45920" y="30998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계정 이관 검토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120640" y="3099816"/>
            <a:ext cx="606247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C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 계정 종속을 없애기 위해 팀 공용 계정 또는 담당자 계정으로 이전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85800" y="4114800"/>
            <a:ext cx="10817352" cy="960120"/>
          </a:xfrm>
          <a:prstGeom prst="roundRect">
            <a:avLst>
              <a:gd name="adj" fmla="val 7619"/>
            </a:avLst>
          </a:prstGeom>
          <a:solidFill>
            <a:srgbClr val="15352A"/>
          </a:solidFill>
          <a:ln w="12700">
            <a:solidFill>
              <a:srgbClr val="1535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4370832"/>
            <a:ext cx="438912" cy="438912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45920" y="42428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 업무 확대 적용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120640" y="4242816"/>
            <a:ext cx="606247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C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경조사 · 근속 축하 등 반복 안내 업무에 동일 구조 적용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5800" y="5669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생일휴가 안내 업무 자동화</dc:title>
  <dc:subject>PptxGenJS Presentation</dc:subject>
  <dc:creator>피플실</dc:creator>
  <cp:lastModifiedBy>피플실</cp:lastModifiedBy>
  <cp:revision>1</cp:revision>
  <dcterms:created xsi:type="dcterms:W3CDTF">2026-08-06T06:08:30Z</dcterms:created>
  <dcterms:modified xsi:type="dcterms:W3CDTF">2026-08-06T06:08:30Z</dcterms:modified>
</cp:coreProperties>
</file>